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0352" y="475488"/>
            <a:ext cx="155448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3" y="493776"/>
            <a:ext cx="140817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INFORME TÉCNICO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987552"/>
            <a:ext cx="52120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2E8F0"/>
                </a:solidFill>
                <a:latin typeface="Atkinson Hyperlegible"/>
              </a:rPr>
              <a:t>Álgebra y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E2E8F0"/>
                </a:solidFill>
                <a:latin typeface="Atkinson Hyperlegible"/>
              </a:rPr>
              <a:t>geometría analítica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212848"/>
            <a:ext cx="47548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rimson Pro"/>
              </a:rPr>
              <a:t>Auditoría</a:t>
            </a:r>
          </a:p>
          <a:p>
            <a:pPr algn="l"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rimson Pro"/>
              </a:rPr>
              <a:t>epistemológica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493008"/>
            <a:ext cx="42976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94A3B8"/>
                </a:solidFill>
                <a:latin typeface="Atkinson Hyperlegible"/>
              </a:rPr>
              <a:t>Recta y plano en R³ · errores humanos y desempeño de LLMs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4224528"/>
            <a:ext cx="222199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4370832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Santiago Sessa · Mateo Rau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Lucio Pieroni · Lucas Bazan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102352"/>
            <a:ext cx="3383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UTN FRLP · Comisión S16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Agosto de 2026</a:t>
            </a:r>
          </a:p>
        </p:txBody>
      </p:sp>
      <p:pic>
        <p:nvPicPr>
          <p:cNvPr id="25" name="Picture 24" descr="08_overlay_interseccion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32688"/>
            <a:ext cx="5669280" cy="5413248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183879" y="1325880"/>
            <a:ext cx="2834640" cy="2834640"/>
          </a:xfrm>
          <a:prstGeom prst="ellipse">
            <a:avLst/>
          </a:prstGeom>
          <a:noFill/>
          <a:ln w="15240">
            <a:solidFill>
              <a:srgbClr val="124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Un protocolo en cinco fases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La investigación combina cálculo, contraste y juicio crítico.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5880" y="2971800"/>
            <a:ext cx="1600200" cy="0"/>
          </a:xfrm>
          <a:prstGeom prst="line">
            <a:avLst/>
          </a:prstGeom>
          <a:ln w="15240">
            <a:solidFill>
              <a:srgbClr val="245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74720" y="2971800"/>
            <a:ext cx="1600200" cy="0"/>
          </a:xfrm>
          <a:prstGeom prst="line">
            <a:avLst/>
          </a:prstGeom>
          <a:ln w="15240">
            <a:solidFill>
              <a:srgbClr val="245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23559" y="2971800"/>
            <a:ext cx="1600201" cy="0"/>
          </a:xfrm>
          <a:prstGeom prst="line">
            <a:avLst/>
          </a:prstGeom>
          <a:ln w="15240">
            <a:solidFill>
              <a:srgbClr val="245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971800"/>
            <a:ext cx="1600200" cy="0"/>
          </a:xfrm>
          <a:prstGeom prst="line">
            <a:avLst/>
          </a:prstGeom>
          <a:ln w="15240">
            <a:solidFill>
              <a:srgbClr val="245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2743200"/>
            <a:ext cx="475488" cy="47548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2761488"/>
            <a:ext cx="475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71018"/>
                </a:solidFill>
                <a:latin typeface="Aptos Mono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3310128"/>
            <a:ext cx="1234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tkinson Hyperlegible"/>
              </a:rPr>
              <a:t>Resolver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3840480"/>
            <a:ext cx="1234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patrones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matemáticos</a:t>
            </a:r>
          </a:p>
        </p:txBody>
      </p:sp>
      <p:sp>
        <p:nvSpPr>
          <p:cNvPr id="29" name="Oval 28"/>
          <p:cNvSpPr/>
          <p:nvPr/>
        </p:nvSpPr>
        <p:spPr>
          <a:xfrm>
            <a:off x="2971800" y="2743200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2761488"/>
            <a:ext cx="475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71018"/>
                </a:solidFill>
                <a:latin typeface="Aptos Mono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3310128"/>
            <a:ext cx="1234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tkinson Hyperlegible"/>
              </a:rPr>
              <a:t>Contrastar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7752" y="3840480"/>
            <a:ext cx="1234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grupo vs.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modelos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2743200"/>
            <a:ext cx="475488" cy="47548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2761488"/>
            <a:ext cx="475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71018"/>
                </a:solidFill>
                <a:latin typeface="Aptos Mono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3310128"/>
            <a:ext cx="1234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tkinson Hyperlegible"/>
              </a:rPr>
              <a:t>Verificar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6592" y="3840480"/>
            <a:ext cx="1234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resultados matemáticos correctos</a:t>
            </a:r>
          </a:p>
        </p:txBody>
      </p:sp>
      <p:sp>
        <p:nvSpPr>
          <p:cNvPr id="37" name="Oval 36"/>
          <p:cNvSpPr/>
          <p:nvPr/>
        </p:nvSpPr>
        <p:spPr>
          <a:xfrm>
            <a:off x="7269480" y="2743200"/>
            <a:ext cx="475488" cy="47548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2761488"/>
            <a:ext cx="475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71018"/>
                </a:solidFill>
                <a:latin typeface="Aptos Mono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85432" y="3310128"/>
            <a:ext cx="1234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tkinson Hyperlegible"/>
              </a:rPr>
              <a:t>Tensionar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3840480"/>
            <a:ext cx="1234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comparar IAs</a:t>
            </a:r>
          </a:p>
        </p:txBody>
      </p:sp>
      <p:sp>
        <p:nvSpPr>
          <p:cNvPr id="41" name="Oval 40"/>
          <p:cNvSpPr/>
          <p:nvPr/>
        </p:nvSpPr>
        <p:spPr>
          <a:xfrm>
            <a:off x="9418320" y="2743200"/>
            <a:ext cx="475488" cy="47548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2761488"/>
            <a:ext cx="475488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71018"/>
                </a:solidFill>
                <a:latin typeface="Aptos Mono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3310128"/>
            <a:ext cx="1234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tkinson Hyperlegible"/>
              </a:rPr>
              <a:t>Reflexionar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3840480"/>
            <a:ext cx="1234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conclusiones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2724912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2578608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1 · RESOLUCIÓN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01 / Intersección entre recta y plano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Del planteo paramétrico al punto verificable.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011680"/>
            <a:ext cx="3246120" cy="96012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2194560"/>
            <a:ext cx="9144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212848"/>
            <a:ext cx="7680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Aptos Mono"/>
              </a:rPr>
              <a:t>PLANO 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532888"/>
            <a:ext cx="2743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2E8F0"/>
                </a:solidFill>
                <a:latin typeface="Aptos Mono"/>
              </a:rPr>
              <a:t>2x − y + z − 6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182112"/>
            <a:ext cx="3246120" cy="1207008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3364992"/>
            <a:ext cx="9144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383280"/>
            <a:ext cx="7680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RECTA 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03320"/>
            <a:ext cx="27889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ptos Mono"/>
              </a:rPr>
              <a:t>x = −1 + 3λ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E2E8F0"/>
                </a:solidFill>
                <a:latin typeface="Aptos Mono"/>
              </a:rPr>
              <a:t>y = 2 + λ   z = −2λ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73168"/>
            <a:ext cx="3246120" cy="731520"/>
          </a:xfrm>
          <a:prstGeom prst="roundRect">
            <a:avLst/>
          </a:prstGeom>
          <a:solidFill>
            <a:srgbClr val="1D1920"/>
          </a:solidFill>
          <a:ln w="12700">
            <a:solidFill>
              <a:srgbClr val="622C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95604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87171"/>
                </a:solidFill>
                <a:latin typeface="Aptos Mono"/>
              </a:rPr>
              <a:t>I = (9, 16/3, −20/3)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230368"/>
            <a:ext cx="27432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verificación cruzada ✓</a:t>
            </a:r>
          </a:p>
        </p:txBody>
      </p:sp>
      <p:pic>
        <p:nvPicPr>
          <p:cNvPr id="32" name="Picture 31" descr="08_overlay_interseccion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83080"/>
            <a:ext cx="7772400" cy="4526280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2596896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24505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1 · DEDUCCIÓN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02 / Ángulo entre recta y plano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La clave es distinguir el ángulo con la normal del ángulo con el plano.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029968"/>
            <a:ext cx="3886200" cy="141732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" y="2240280"/>
            <a:ext cx="100584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258568"/>
            <a:ext cx="85953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VECTORES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596896"/>
            <a:ext cx="33375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E8F0"/>
                </a:solidFill>
                <a:latin typeface="Aptos Mono"/>
              </a:rPr>
              <a:t>n = (1, −2, 2)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E2E8F0"/>
                </a:solidFill>
                <a:latin typeface="Aptos Mono"/>
              </a:rPr>
              <a:t>d = (1, 2, 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03320"/>
            <a:ext cx="3886200" cy="135331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913632"/>
            <a:ext cx="33832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2E8F0"/>
                </a:solidFill>
                <a:latin typeface="Aptos Mono"/>
              </a:rPr>
              <a:t>sin α = |n · d| / (‖n‖ · ‖d‖)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2E8F0"/>
                </a:solidFill>
                <a:latin typeface="Aptos Mono"/>
              </a:rPr>
              <a:t>α = 6,38°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709160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87171"/>
                </a:solidFill>
                <a:latin typeface="Aptos Mono"/>
              </a:rPr>
              <a:t>= 6° 22′ 46″</a:t>
            </a:r>
          </a:p>
        </p:txBody>
      </p:sp>
      <p:pic>
        <p:nvPicPr>
          <p:cNvPr id="28" name="Picture 27" descr="09_overlay_angulo_normal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28800"/>
            <a:ext cx="7223760" cy="4526280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2596896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245059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1 · DISCUSIÓN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03 / El parámetro m no siempre existe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Dos condiciones, dos conclusiones distintas.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029968"/>
            <a:ext cx="5166360" cy="333756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2267712"/>
            <a:ext cx="9144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2286000"/>
            <a:ext cx="7680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4ADE80"/>
                </a:solidFill>
                <a:latin typeface="Aptos Mono"/>
              </a:rPr>
              <a:t>CASO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69748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E2E8F0"/>
                </a:solidFill>
                <a:latin typeface="Crimson Pro"/>
              </a:rPr>
              <a:t>d ⟂ 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154680"/>
            <a:ext cx="448056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Aptos Mono"/>
              </a:rPr>
              <a:t>Producto escalar nulo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Aptos Mono"/>
              </a:rPr>
              <a:t>(m)(3) + (6)(1) + (4)(−2)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4ADE80"/>
                </a:solidFill>
                <a:latin typeface="Aptos Mono"/>
              </a:rPr>
              <a:t>m = 2/3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63440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Atkinson Hyperlegible"/>
              </a:rPr>
              <a:t>solución única y bien determinada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2029968"/>
            <a:ext cx="5532120" cy="3337560"/>
          </a:xfrm>
          <a:prstGeom prst="roundRect">
            <a:avLst/>
          </a:prstGeom>
          <a:solidFill>
            <a:srgbClr val="1C151C"/>
          </a:solidFill>
          <a:ln w="12700">
            <a:solidFill>
              <a:srgbClr val="582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2267712"/>
            <a:ext cx="9144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2286000"/>
            <a:ext cx="7680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87171"/>
                </a:solidFill>
                <a:latin typeface="Aptos Mono"/>
              </a:rPr>
              <a:t>CASO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697480"/>
            <a:ext cx="4846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E2E8F0"/>
                </a:solidFill>
                <a:latin typeface="Crimson Pro"/>
              </a:rPr>
              <a:t>d ∥ 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54680"/>
            <a:ext cx="47548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Aptos Mono"/>
              </a:rPr>
              <a:t>Proporcionalidad vectorial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Aptos Mono"/>
              </a:rPr>
              <a:t>m/3 = 6/1 = 4/(−2)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1605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7171"/>
                </a:solidFill>
                <a:latin typeface="Aptos Mono"/>
              </a:rPr>
              <a:t>6 ≠ −2  →  ∄ m ∈ 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663440"/>
            <a:ext cx="4754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Atkinson Hyperlegible"/>
              </a:rPr>
              <a:t>el sistema es incompatible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3621024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347472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FASES 1 Y 3 · 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04 / Verificar antes de cerrar la ecuación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Tres planos cartesianos. Un único error de signo detectado a tiempo.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057400"/>
            <a:ext cx="3429000" cy="224028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7" y="2267712"/>
            <a:ext cx="7315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399" y="2286000"/>
            <a:ext cx="5852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Aptos Mono"/>
              </a:rPr>
              <a:t>ΠXY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724912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2E8F0"/>
                </a:solidFill>
                <a:latin typeface="Aptos Mono"/>
              </a:rPr>
              <a:t>3x + 4y − 2 = 0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1051560" y="3246120"/>
            <a:ext cx="2514600" cy="475488"/>
          </a:xfrm>
          <a:prstGeom prst="parallelogram">
            <a:avLst/>
          </a:prstGeom>
          <a:solidFill>
            <a:srgbClr val="0A3E52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645920" y="3090672"/>
            <a:ext cx="0" cy="95097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43000" y="3703320"/>
            <a:ext cx="2350008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7" y="3977639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paralelo a Z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2057400"/>
            <a:ext cx="3429000" cy="224028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36008" y="2267712"/>
            <a:ext cx="7315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2286000"/>
            <a:ext cx="5852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87171"/>
                </a:solidFill>
                <a:latin typeface="Aptos Mono"/>
              </a:rPr>
              <a:t>ΠXZ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6008" y="2724912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2E8F0"/>
                </a:solidFill>
                <a:latin typeface="Aptos Mono"/>
              </a:rPr>
              <a:t>x − 4z + 18 = 0</a:t>
            </a:r>
          </a:p>
        </p:txBody>
      </p:sp>
      <p:sp>
        <p:nvSpPr>
          <p:cNvPr id="33" name="Parallelogram 32"/>
          <p:cNvSpPr/>
          <p:nvPr/>
        </p:nvSpPr>
        <p:spPr>
          <a:xfrm>
            <a:off x="4846320" y="3246120"/>
            <a:ext cx="2514600" cy="475488"/>
          </a:xfrm>
          <a:prstGeom prst="parallelogram">
            <a:avLst/>
          </a:prstGeom>
          <a:solidFill>
            <a:srgbClr val="0A3E5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5440680" y="3090672"/>
            <a:ext cx="0" cy="95097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937760" y="3703320"/>
            <a:ext cx="2350008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636008" y="3977639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F87171"/>
                </a:solidFill>
                <a:latin typeface="Aptos Mono"/>
              </a:rPr>
              <a:t>corregido: −18 → +18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2057400"/>
            <a:ext cx="3429000" cy="224028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30768" y="2267712"/>
            <a:ext cx="7315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2286000"/>
            <a:ext cx="5852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ΠYZ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2724912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2E8F0"/>
                </a:solidFill>
                <a:latin typeface="Aptos Mono"/>
              </a:rPr>
              <a:t>y + 3z − 14 = 0</a:t>
            </a:r>
          </a:p>
        </p:txBody>
      </p:sp>
      <p:sp>
        <p:nvSpPr>
          <p:cNvPr id="41" name="Parallelogram 40"/>
          <p:cNvSpPr/>
          <p:nvPr/>
        </p:nvSpPr>
        <p:spPr>
          <a:xfrm>
            <a:off x="8641080" y="3246120"/>
            <a:ext cx="2514600" cy="475488"/>
          </a:xfrm>
          <a:prstGeom prst="parallelogram">
            <a:avLst/>
          </a:prstGeom>
          <a:solidFill>
            <a:srgbClr val="0A3E5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235440" y="3090672"/>
            <a:ext cx="0" cy="950976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732520" y="3703320"/>
            <a:ext cx="2350008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430768" y="3977639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94A3B8"/>
                </a:solidFill>
                <a:latin typeface="Aptos Mono"/>
              </a:rPr>
              <a:t>paralelo a 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11680" y="4956048"/>
            <a:ext cx="8183879" cy="640080"/>
          </a:xfrm>
          <a:prstGeom prst="roundRect">
            <a:avLst/>
          </a:prstGeom>
          <a:solidFill>
            <a:srgbClr val="20171D"/>
          </a:solidFill>
          <a:ln w="12700">
            <a:solidFill>
              <a:srgbClr val="582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0280" y="5138928"/>
            <a:ext cx="7680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7171"/>
                </a:solidFill>
                <a:latin typeface="Aptos Mono"/>
              </a:rPr>
              <a:t>P(2, −1, 5)  ·  −36 ≠ 0  →  revisar término independiente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3236976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309067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FASES 2 Y 3 · CONTRASTE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Auditoría cruzada de desempeño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La matriz compara resultado, proceso y capacidad de verificación.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1965960"/>
            <a:ext cx="2743200" cy="438912"/>
          </a:xfrm>
          <a:prstGeom prst="roundRect">
            <a:avLst/>
          </a:prstGeom>
          <a:solidFill>
            <a:srgbClr val="131D2D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075688"/>
            <a:ext cx="2487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ptos Mono"/>
              </a:rPr>
              <a:t>EJERCICIO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1965960"/>
            <a:ext cx="3886200" cy="438912"/>
          </a:xfrm>
          <a:prstGeom prst="roundRect">
            <a:avLst/>
          </a:prstGeom>
          <a:solidFill>
            <a:srgbClr val="092D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075688"/>
            <a:ext cx="3630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ptos Mono"/>
              </a:rPr>
              <a:t>GRUPO DE ESTUDIANTES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1965960"/>
            <a:ext cx="4023360" cy="438912"/>
          </a:xfrm>
          <a:prstGeom prst="roundRect">
            <a:avLst/>
          </a:prstGeom>
          <a:solidFill>
            <a:srgbClr val="092D3D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2075688"/>
            <a:ext cx="3767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E2E8F0"/>
                </a:solidFill>
                <a:latin typeface="Aptos Mono"/>
              </a:rPr>
              <a:t>MODELOS DE 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496312"/>
            <a:ext cx="274320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2642616"/>
            <a:ext cx="2487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E8F0"/>
                </a:solidFill>
                <a:latin typeface="Atkinson Hyperlegible"/>
              </a:rPr>
              <a:t>1 · Intersección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496312"/>
            <a:ext cx="388620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11296" y="2642616"/>
            <a:ext cx="3630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OK · punto exacto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2496312"/>
            <a:ext cx="402336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7496" y="2642616"/>
            <a:ext cx="3767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OK · preciso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136391"/>
            <a:ext cx="274320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3282696"/>
            <a:ext cx="2487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E8F0"/>
                </a:solidFill>
                <a:latin typeface="Atkinson Hyperlegible"/>
              </a:rPr>
              <a:t>2 · Ángulo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136391"/>
            <a:ext cx="388620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1296" y="3282696"/>
            <a:ext cx="3630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OK · usa seno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3136391"/>
            <a:ext cx="402336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97496" y="3282696"/>
            <a:ext cx="3767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BBF24"/>
                </a:solidFill>
                <a:latin typeface="Aptos Mono"/>
              </a:rPr>
              <a:t>PARCIAL · coseno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776472"/>
            <a:ext cx="274320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3922776"/>
            <a:ext cx="2487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E8F0"/>
                </a:solidFill>
                <a:latin typeface="Atkinson Hyperlegible"/>
              </a:rPr>
              <a:t>3 · Parámetro 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3776472"/>
            <a:ext cx="388620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11296" y="3922776"/>
            <a:ext cx="3630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OK · detecta absurdo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69480" y="3776472"/>
            <a:ext cx="4023360" cy="521207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97496" y="3922776"/>
            <a:ext cx="3767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87171"/>
                </a:solidFill>
                <a:latin typeface="Aptos Mono"/>
              </a:rPr>
              <a:t>ALERTA · m = 18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416552"/>
            <a:ext cx="274320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562856"/>
            <a:ext cx="2487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2E8F0"/>
                </a:solidFill>
                <a:latin typeface="Atkinson Hyperlegible"/>
              </a:rPr>
              <a:t>4 · Proyectantes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80" y="4416552"/>
            <a:ext cx="388620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1296" y="4562856"/>
            <a:ext cx="363016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ALERTA · −18 → +18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69480" y="4416552"/>
            <a:ext cx="4023360" cy="521207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97496" y="4562856"/>
            <a:ext cx="37673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4ADE80"/>
                </a:solidFill>
                <a:latin typeface="Aptos Mono"/>
              </a:rPr>
              <a:t>OK · omisión πyz</a:t>
            </a:r>
          </a:p>
        </p:txBody>
      </p:sp>
      <p:pic>
        <p:nvPicPr>
          <p:cNvPr id="51" name="Picture 50" descr="10_overlay_auditoria_nodos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800600"/>
            <a:ext cx="1920240" cy="1280160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9784080" y="502920"/>
            <a:ext cx="1920240" cy="594360"/>
          </a:xfrm>
          <a:prstGeom prst="line">
            <a:avLst/>
          </a:prstGeom>
          <a:ln w="10160">
            <a:solidFill>
              <a:srgbClr val="371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310896"/>
            <a:ext cx="3877056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29184"/>
            <a:ext cx="3730752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4 · PROMPTS ADVERSARIOS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Cuatro pruebas para forzar el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La resistencia aparece cuando el modelo no obedece una premisa matemática falsa.</a:t>
            </a:r>
          </a:p>
        </p:txBody>
      </p:sp>
      <p:sp>
        <p:nvSpPr>
          <p:cNvPr id="22" name="Oval 21"/>
          <p:cNvSpPr/>
          <p:nvPr/>
        </p:nvSpPr>
        <p:spPr>
          <a:xfrm>
            <a:off x="5138928" y="3108960"/>
            <a:ext cx="1645920" cy="1645920"/>
          </a:xfrm>
          <a:prstGeom prst="ellipse">
            <a:avLst/>
          </a:prstGeom>
          <a:solidFill>
            <a:srgbClr val="0A172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0096" y="3511296"/>
            <a:ext cx="124358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7171"/>
                </a:solidFill>
                <a:latin typeface="Aptos Mono"/>
              </a:rPr>
              <a:t>NO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87171"/>
                </a:solidFill>
                <a:latin typeface="Aptos Mono"/>
              </a:rPr>
              <a:t>COMPLETAR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103120"/>
            <a:ext cx="3337560" cy="1207008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2249424"/>
            <a:ext cx="4572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2267712"/>
            <a:ext cx="3108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EA5E9"/>
                </a:solidFill>
                <a:latin typeface="Aptos Mono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9616" y="2267712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>
                <a:solidFill>
                  <a:srgbClr val="0EA5E9"/>
                </a:solidFill>
                <a:latin typeface="Aptos Mono"/>
              </a:rPr>
              <a:t>INCOMPATIBILIDAD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624327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Forzar un despeje numérico de 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95351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detectan 6 ≠ −2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2103120"/>
            <a:ext cx="3337560" cy="1207008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57031" y="2249424"/>
            <a:ext cx="4572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2267712"/>
            <a:ext cx="3108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267712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>
                <a:solidFill>
                  <a:srgbClr val="38BDF8"/>
                </a:solidFill>
                <a:latin typeface="Aptos Mono"/>
              </a:rPr>
              <a:t>DIVISIÓN POR CERO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1" y="2624327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Insistir con 0λ = 10.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295351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declaran r ∩ π = 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572000"/>
            <a:ext cx="3337560" cy="1207008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112" y="4718304"/>
            <a:ext cx="4572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9264" y="4736592"/>
            <a:ext cx="3108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87171"/>
                </a:solidFill>
                <a:latin typeface="Aptos Mono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9616" y="4736592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>
                <a:solidFill>
                  <a:srgbClr val="F87171"/>
                </a:solidFill>
                <a:latin typeface="Aptos Mono"/>
              </a:rPr>
              <a:t>FÓRMULA ERRÓNEA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09320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Inducir el uso directo del coseno.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542239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confunden normal y plano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572000"/>
            <a:ext cx="3337560" cy="1207008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57031" y="4718304"/>
            <a:ext cx="4572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3" y="4736592"/>
            <a:ext cx="3108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E2E8F0"/>
                </a:solidFill>
                <a:latin typeface="Aptos Mono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0536" y="4736592"/>
            <a:ext cx="23317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>
                <a:solidFill>
                  <a:srgbClr val="E2E8F0"/>
                </a:solidFill>
                <a:latin typeface="Aptos Mono"/>
              </a:rPr>
              <a:t>COMPONENTE NULA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1" y="5093208"/>
            <a:ext cx="2926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E2E8F0"/>
                </a:solidFill>
                <a:latin typeface="Atkinson Hyperlegible"/>
              </a:rPr>
              <a:t>Dividir por dᵧ = 0.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1" y="542239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aíslan y = −1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V="1">
            <a:off x="9784080" y="502920"/>
            <a:ext cx="1920240" cy="594360"/>
          </a:xfrm>
          <a:prstGeom prst="line">
            <a:avLst/>
          </a:prstGeom>
          <a:ln w="10160">
            <a:solidFill>
              <a:srgbClr val="371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310896"/>
            <a:ext cx="4261104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29184"/>
            <a:ext cx="41148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4 · FENÓMENO CRÍTICO DE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Cuando la auditoría fabrica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Una respuesta segura puede seguir siendo falsa si no contrasta el material fuente.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1993392"/>
            <a:ext cx="4892040" cy="324612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2240280"/>
            <a:ext cx="114300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2258568"/>
            <a:ext cx="99669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F87171"/>
                </a:solidFill>
                <a:latin typeface="Aptos Mono"/>
              </a:rPr>
              <a:t>FABRICACIÓN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2697480"/>
            <a:ext cx="4251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E2E8F0"/>
                </a:solidFill>
                <a:latin typeface="Crimson Pro"/>
              </a:rPr>
              <a:t>La IA atribuyó a otras herramientas desarrollos matemáticos que nunca habían emitido.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03320"/>
            <a:ext cx="42519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Atkinson Hyperlegible"/>
              </a:rPr>
              <a:t>Ejemplo: división por cero (10/0) y un despeje ficticio atribuido a otros modelos.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4572000"/>
            <a:ext cx="4251960" cy="420624"/>
          </a:xfrm>
          <a:prstGeom prst="roundRect">
            <a:avLst/>
          </a:prstGeom>
          <a:solidFill>
            <a:srgbClr val="23171E"/>
          </a:solidFill>
          <a:ln w="12700">
            <a:solidFill>
              <a:srgbClr val="582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681728"/>
            <a:ext cx="3977639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87171"/>
                </a:solidFill>
                <a:latin typeface="Aptos Mono"/>
              </a:rPr>
              <a:t>La supervisión humana no es opcional.</a:t>
            </a:r>
          </a:p>
        </p:txBody>
      </p:sp>
      <p:pic>
        <p:nvPicPr>
          <p:cNvPr id="29" name="Picture 28" descr="10_overlay_auditoria_nodos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828800"/>
            <a:ext cx="5760720" cy="3657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20840" y="5303520"/>
            <a:ext cx="374903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87171"/>
                </a:solidFill>
                <a:latin typeface="Aptos Mono"/>
              </a:rPr>
              <a:t>SYCOPHANCY  ·  ADULACIÓN ALGORÍTMICA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43891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42428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FASE 5 · REFLEXIÓN METACOGNITIVA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Tres conclusiones para el futuro ingeniero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La herramienta acelera el cálculo; el estudiante sostiene el criterio.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2350008"/>
            <a:ext cx="576072" cy="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7512" y="2057400"/>
            <a:ext cx="594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38BDF8"/>
                </a:solidFill>
                <a:latin typeface="Aptos Mon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03911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E8F0"/>
                </a:solidFill>
                <a:latin typeface="Atkinson Hyperlegible"/>
              </a:rPr>
              <a:t>Verificación geométrica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2423160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Atkinson Hyperlegible"/>
              </a:rPr>
              <a:t>Sustituir puntos en ecuaciones cartesianas es el filtro ineludible de validez.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8680" y="3538727"/>
            <a:ext cx="576072" cy="0"/>
          </a:xfrm>
          <a:prstGeom prst="line">
            <a:avLst/>
          </a:prstGeom>
          <a:ln w="3810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7512" y="3246120"/>
            <a:ext cx="594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87171"/>
                </a:solidFill>
                <a:latin typeface="Aptos Mono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22783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E8F0"/>
                </a:solidFill>
                <a:latin typeface="Atkinson Hyperlegible"/>
              </a:rPr>
              <a:t>Límites de los 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611879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Atkinson Hyperlegible"/>
              </a:rPr>
              <a:t>Pueden resolver y acelerar, pero fallan ante conjuntos vacíos, sesgos y evidencia inventada.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727448"/>
            <a:ext cx="576072" cy="0"/>
          </a:xfrm>
          <a:prstGeom prst="line">
            <a:avLst/>
          </a:prstGeom>
          <a:ln w="3810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" y="4434840"/>
            <a:ext cx="594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4ADE80"/>
                </a:solidFill>
                <a:latin typeface="Aptos Mono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416552"/>
            <a:ext cx="4480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2E8F0"/>
                </a:solidFill>
                <a:latin typeface="Atkinson Hyperlegible"/>
              </a:rPr>
              <a:t>Rol del estudiante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800600"/>
            <a:ext cx="5760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94A3B8"/>
                </a:solidFill>
                <a:latin typeface="Atkinson Hyperlegible"/>
              </a:rPr>
              <a:t>Pasar de ejecutor de cuentas a auditor epistemológico fortalece la competencia analítica.</a:t>
            </a:r>
          </a:p>
        </p:txBody>
      </p:sp>
      <p:pic>
        <p:nvPicPr>
          <p:cNvPr id="33" name="Picture 32" descr="06_ciclo_verificacion_hu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828800"/>
            <a:ext cx="3337560" cy="333756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103120" y="5623560"/>
            <a:ext cx="7589520" cy="384048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67712" y="5715000"/>
            <a:ext cx="7269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E2E8F0"/>
                </a:solidFill>
                <a:latin typeface="Aptos Mono"/>
              </a:rPr>
              <a:t>La competencia central no es calcular más rápido: es verificar mejor.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43891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42428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DEFENSA ORAL · ESTRUCTURA GRUPAL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El guion técnico en 11 minutos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Cada bloque tiene una función narrativa dentro de la defensa.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2971800"/>
            <a:ext cx="10241280" cy="0"/>
          </a:xfrm>
          <a:prstGeom prst="line">
            <a:avLst/>
          </a:prstGeom>
          <a:ln w="25400">
            <a:solidFill>
              <a:srgbClr val="234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400" y="27889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212848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>
                <a:solidFill>
                  <a:srgbClr val="38BDF8"/>
                </a:solidFill>
                <a:latin typeface="Aptos Mono"/>
              </a:rPr>
              <a:t>0:00–1:45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Crimson Pro"/>
              </a:rPr>
              <a:t>Santiago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749039"/>
            <a:ext cx="1554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apertura + protocolo</a:t>
            </a:r>
          </a:p>
        </p:txBody>
      </p:sp>
      <p:sp>
        <p:nvSpPr>
          <p:cNvPr id="26" name="Oval 25"/>
          <p:cNvSpPr/>
          <p:nvPr/>
        </p:nvSpPr>
        <p:spPr>
          <a:xfrm>
            <a:off x="3429000" y="2788920"/>
            <a:ext cx="365760" cy="36576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2212848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>
                <a:solidFill>
                  <a:srgbClr val="0EA5E9"/>
                </a:solidFill>
                <a:latin typeface="Aptos Mono"/>
              </a:rPr>
              <a:t>1:45–4:00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429000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Crimson Pro"/>
              </a:rPr>
              <a:t>Mateo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072" y="3749039"/>
            <a:ext cx="1554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intersección + ángulo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27889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2212848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>
                <a:solidFill>
                  <a:srgbClr val="4ADE80"/>
                </a:solidFill>
                <a:latin typeface="Aptos Mono"/>
              </a:rPr>
              <a:t>4:00–6:15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3429000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Crimson Pro"/>
              </a:rPr>
              <a:t>Lucio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3749039"/>
            <a:ext cx="1554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m + planos + signo</a:t>
            </a:r>
          </a:p>
        </p:txBody>
      </p:sp>
      <p:sp>
        <p:nvSpPr>
          <p:cNvPr id="34" name="Oval 33"/>
          <p:cNvSpPr/>
          <p:nvPr/>
        </p:nvSpPr>
        <p:spPr>
          <a:xfrm>
            <a:off x="8458200" y="2788920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2212848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>
                <a:solidFill>
                  <a:srgbClr val="F87171"/>
                </a:solidFill>
                <a:latin typeface="Aptos Mono"/>
              </a:rPr>
              <a:t>8:00–11:30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429000"/>
            <a:ext cx="1234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Crimson Pro"/>
              </a:rPr>
              <a:t>Lucas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1272" y="3749039"/>
            <a:ext cx="15544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94A3B8"/>
                </a:solidFill>
                <a:latin typeface="Aptos Mono"/>
              </a:rPr>
              <a:t>prompts + cierre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57400" y="4892040"/>
            <a:ext cx="8092440" cy="530352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5047488"/>
            <a:ext cx="76352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E2E8F0"/>
                </a:solidFill>
                <a:latin typeface="Aptos Mono"/>
              </a:rPr>
              <a:t>problema   →   resolución   →   auditoría   →   reflexión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6144768"/>
            <a:ext cx="11183112" cy="0"/>
          </a:xfrm>
          <a:prstGeom prst="line">
            <a:avLst/>
          </a:prstGeom>
          <a:ln w="10160">
            <a:solidFill>
              <a:srgbClr val="0E25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3317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661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8006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03504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26948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0392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73836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972800" y="5577840"/>
            <a:ext cx="384048" cy="566928"/>
          </a:xfrm>
          <a:prstGeom prst="line">
            <a:avLst/>
          </a:prstGeom>
          <a:ln w="6985">
            <a:solidFill>
              <a:srgbClr val="0A1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" y="228600"/>
            <a:ext cx="16459" cy="16459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19456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09560" y="164592"/>
            <a:ext cx="13716" cy="1371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0" y="429768"/>
            <a:ext cx="12801" cy="128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0" y="2011680"/>
            <a:ext cx="10972" cy="109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10896"/>
            <a:ext cx="4389120" cy="256032"/>
          </a:xfrm>
          <a:prstGeom prst="roundRect">
            <a:avLst/>
          </a:prstGeom>
          <a:solidFill>
            <a:srgbClr val="0A1721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29184"/>
            <a:ext cx="4242816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38BDF8"/>
                </a:solidFill>
                <a:latin typeface="Aptos Mono"/>
              </a:rPr>
              <a:t>DEFENSA ANTE EL TRIBUNAL DOCENTE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713232"/>
            <a:ext cx="8138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E2E8F0"/>
                </a:solidFill>
                <a:latin typeface="Atkinson Hyperlegible"/>
              </a:rPr>
              <a:t>Banco de preguntas · 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1298448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94A3B8"/>
                </a:solidFill>
                <a:latin typeface="Atkinson Hyperlegible"/>
              </a:rPr>
              <a:t>Dos preguntas que condensan la defensa.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057400"/>
            <a:ext cx="6583680" cy="114300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2258568"/>
            <a:ext cx="6126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Crimson Pro"/>
              </a:rPr>
              <a:t>¿Por qué seno en lugar de coseno?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633472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>
                <a:solidFill>
                  <a:srgbClr val="94A3B8"/>
                </a:solidFill>
                <a:latin typeface="Atkinson Hyperlegible"/>
              </a:rPr>
              <a:t>El producto escalar mide el ángulo β con la normal. Como α + β = 90°, cos β = sin α.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6583680" cy="1143000"/>
          </a:xfrm>
          <a:prstGeom prst="roundRect">
            <a:avLst/>
          </a:prstGeom>
          <a:solidFill>
            <a:srgbClr val="0C1C28"/>
          </a:solidFill>
          <a:ln w="12700">
            <a:solidFill>
              <a:srgbClr val="183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67328"/>
            <a:ext cx="6126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Crimson Pro"/>
              </a:rPr>
              <a:t>¿Por qué alcanza una desigualdad?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42232"/>
            <a:ext cx="5989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80" b="0">
                <a:solidFill>
                  <a:srgbClr val="94A3B8"/>
                </a:solidFill>
                <a:latin typeface="Atkinson Hyperlegible"/>
              </a:rPr>
              <a:t>La colinealidad exige una única constante k. Si kᵧ = 6 y k𝓏 = −2, el sistema es incompatible.</a:t>
            </a:r>
          </a:p>
        </p:txBody>
      </p:sp>
      <p:pic>
        <p:nvPicPr>
          <p:cNvPr id="27" name="Picture 26" descr="08_overlay_interseccion_transpar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920240"/>
            <a:ext cx="4160520" cy="2834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9520" y="489204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rimson Pro"/>
              </a:rPr>
              <a:t>¡Muchas gracias</a:t>
            </a:r>
          </a:p>
          <a:p>
            <a:pPr algn="ctr"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Crimson Pro"/>
              </a:rPr>
              <a:t>por su atención!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513832"/>
            <a:ext cx="3657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94A3B8"/>
                </a:solidFill>
                <a:latin typeface="Aptos Mono"/>
              </a:rPr>
              <a:t>Quedamos a disposición para preguntas.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183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37960"/>
            <a:ext cx="73152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94A3B8"/>
                </a:solidFill>
                <a:latin typeface="Aptos Mono"/>
              </a:rPr>
              <a:t>UTN FRLP · Álgebra y Geometría Analítica · Comisión S16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10528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38BDF8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